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411" autoAdjust="0"/>
  </p:normalViewPr>
  <p:slideViewPr>
    <p:cSldViewPr snapToGrid="0">
      <p:cViewPr varScale="1">
        <p:scale>
          <a:sx n="70" d="100"/>
          <a:sy n="70" d="100"/>
        </p:scale>
        <p:origin x="536"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B03B17-1D63-6832-6DFF-EB4B01739BC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0541B3A-702B-3C09-FAFC-5858882259F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84E1EE2-1BE8-81F8-48A8-866D713F6B9B}"/>
              </a:ext>
            </a:extLst>
          </p:cNvPr>
          <p:cNvSpPr>
            <a:spLocks noGrp="1"/>
          </p:cNvSpPr>
          <p:nvPr>
            <p:ph type="dt" sz="half" idx="10"/>
          </p:nvPr>
        </p:nvSpPr>
        <p:spPr/>
        <p:txBody>
          <a:bodyPr/>
          <a:lstStyle/>
          <a:p>
            <a:fld id="{059C1569-9670-4DAE-8EF4-42A690438743}" type="datetimeFigureOut">
              <a:rPr lang="en-US" smtClean="0"/>
              <a:t>2/15/2023</a:t>
            </a:fld>
            <a:endParaRPr lang="en-US"/>
          </a:p>
        </p:txBody>
      </p:sp>
      <p:sp>
        <p:nvSpPr>
          <p:cNvPr id="5" name="Footer Placeholder 4">
            <a:extLst>
              <a:ext uri="{FF2B5EF4-FFF2-40B4-BE49-F238E27FC236}">
                <a16:creationId xmlns:a16="http://schemas.microsoft.com/office/drawing/2014/main" id="{9FBB4617-9B8A-40B8-E20E-56A285F90B2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7C2E175-841A-1C65-5C0D-5FE845ACA6F6}"/>
              </a:ext>
            </a:extLst>
          </p:cNvPr>
          <p:cNvSpPr>
            <a:spLocks noGrp="1"/>
          </p:cNvSpPr>
          <p:nvPr>
            <p:ph type="sldNum" sz="quarter" idx="12"/>
          </p:nvPr>
        </p:nvSpPr>
        <p:spPr/>
        <p:txBody>
          <a:bodyPr/>
          <a:lstStyle/>
          <a:p>
            <a:fld id="{E542DB6C-26E9-4CF3-A685-6596365B6E86}" type="slidenum">
              <a:rPr lang="en-US" smtClean="0"/>
              <a:t>‹#›</a:t>
            </a:fld>
            <a:endParaRPr lang="en-US"/>
          </a:p>
        </p:txBody>
      </p:sp>
    </p:spTree>
    <p:extLst>
      <p:ext uri="{BB962C8B-B14F-4D97-AF65-F5344CB8AC3E}">
        <p14:creationId xmlns:p14="http://schemas.microsoft.com/office/powerpoint/2010/main" val="25045433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42323C-B99D-DDAD-55A4-3F337EAEF62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708231D-A98D-9FFA-765F-007706A549D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73447F0-31F5-579E-DA9C-622DB7258EDB}"/>
              </a:ext>
            </a:extLst>
          </p:cNvPr>
          <p:cNvSpPr>
            <a:spLocks noGrp="1"/>
          </p:cNvSpPr>
          <p:nvPr>
            <p:ph type="dt" sz="half" idx="10"/>
          </p:nvPr>
        </p:nvSpPr>
        <p:spPr/>
        <p:txBody>
          <a:bodyPr/>
          <a:lstStyle/>
          <a:p>
            <a:fld id="{059C1569-9670-4DAE-8EF4-42A690438743}" type="datetimeFigureOut">
              <a:rPr lang="en-US" smtClean="0"/>
              <a:t>2/15/2023</a:t>
            </a:fld>
            <a:endParaRPr lang="en-US"/>
          </a:p>
        </p:txBody>
      </p:sp>
      <p:sp>
        <p:nvSpPr>
          <p:cNvPr id="5" name="Footer Placeholder 4">
            <a:extLst>
              <a:ext uri="{FF2B5EF4-FFF2-40B4-BE49-F238E27FC236}">
                <a16:creationId xmlns:a16="http://schemas.microsoft.com/office/drawing/2014/main" id="{A77836E9-74FF-8D55-F765-B3C0878721B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98BE3C0-2F5E-9DF5-91CA-9C85A6C3A0D7}"/>
              </a:ext>
            </a:extLst>
          </p:cNvPr>
          <p:cNvSpPr>
            <a:spLocks noGrp="1"/>
          </p:cNvSpPr>
          <p:nvPr>
            <p:ph type="sldNum" sz="quarter" idx="12"/>
          </p:nvPr>
        </p:nvSpPr>
        <p:spPr/>
        <p:txBody>
          <a:bodyPr/>
          <a:lstStyle/>
          <a:p>
            <a:fld id="{E542DB6C-26E9-4CF3-A685-6596365B6E86}" type="slidenum">
              <a:rPr lang="en-US" smtClean="0"/>
              <a:t>‹#›</a:t>
            </a:fld>
            <a:endParaRPr lang="en-US"/>
          </a:p>
        </p:txBody>
      </p:sp>
    </p:spTree>
    <p:extLst>
      <p:ext uri="{BB962C8B-B14F-4D97-AF65-F5344CB8AC3E}">
        <p14:creationId xmlns:p14="http://schemas.microsoft.com/office/powerpoint/2010/main" val="21960807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A0632A-910D-C1C9-E070-DC5F3450683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3A8AAD4-8F88-114B-3BBF-1DDC62FB38B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08E9F37-1755-5F49-60C5-2602588EE378}"/>
              </a:ext>
            </a:extLst>
          </p:cNvPr>
          <p:cNvSpPr>
            <a:spLocks noGrp="1"/>
          </p:cNvSpPr>
          <p:nvPr>
            <p:ph type="dt" sz="half" idx="10"/>
          </p:nvPr>
        </p:nvSpPr>
        <p:spPr/>
        <p:txBody>
          <a:bodyPr/>
          <a:lstStyle/>
          <a:p>
            <a:fld id="{059C1569-9670-4DAE-8EF4-42A690438743}" type="datetimeFigureOut">
              <a:rPr lang="en-US" smtClean="0"/>
              <a:t>2/15/2023</a:t>
            </a:fld>
            <a:endParaRPr lang="en-US"/>
          </a:p>
        </p:txBody>
      </p:sp>
      <p:sp>
        <p:nvSpPr>
          <p:cNvPr id="5" name="Footer Placeholder 4">
            <a:extLst>
              <a:ext uri="{FF2B5EF4-FFF2-40B4-BE49-F238E27FC236}">
                <a16:creationId xmlns:a16="http://schemas.microsoft.com/office/drawing/2014/main" id="{52A97966-247F-65A8-F33B-E91F5E5D1C1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03E81DD-EE74-17B8-B77B-8137A54422D6}"/>
              </a:ext>
            </a:extLst>
          </p:cNvPr>
          <p:cNvSpPr>
            <a:spLocks noGrp="1"/>
          </p:cNvSpPr>
          <p:nvPr>
            <p:ph type="sldNum" sz="quarter" idx="12"/>
          </p:nvPr>
        </p:nvSpPr>
        <p:spPr/>
        <p:txBody>
          <a:bodyPr/>
          <a:lstStyle/>
          <a:p>
            <a:fld id="{E542DB6C-26E9-4CF3-A685-6596365B6E86}" type="slidenum">
              <a:rPr lang="en-US" smtClean="0"/>
              <a:t>‹#›</a:t>
            </a:fld>
            <a:endParaRPr lang="en-US"/>
          </a:p>
        </p:txBody>
      </p:sp>
    </p:spTree>
    <p:extLst>
      <p:ext uri="{BB962C8B-B14F-4D97-AF65-F5344CB8AC3E}">
        <p14:creationId xmlns:p14="http://schemas.microsoft.com/office/powerpoint/2010/main" val="5489997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B1E1AC-3C32-E8B0-3DB8-530E9E9F427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23032FC-8CD3-CB59-1B70-7B8AA2E8A01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E030827-D703-F4D6-152B-292A2E401B3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C390464-52E6-7EE8-260D-CCF094C95C5A}"/>
              </a:ext>
            </a:extLst>
          </p:cNvPr>
          <p:cNvSpPr>
            <a:spLocks noGrp="1"/>
          </p:cNvSpPr>
          <p:nvPr>
            <p:ph type="dt" sz="half" idx="10"/>
          </p:nvPr>
        </p:nvSpPr>
        <p:spPr/>
        <p:txBody>
          <a:bodyPr/>
          <a:lstStyle/>
          <a:p>
            <a:fld id="{059C1569-9670-4DAE-8EF4-42A690438743}" type="datetimeFigureOut">
              <a:rPr lang="en-US" smtClean="0"/>
              <a:t>2/15/2023</a:t>
            </a:fld>
            <a:endParaRPr lang="en-US"/>
          </a:p>
        </p:txBody>
      </p:sp>
      <p:sp>
        <p:nvSpPr>
          <p:cNvPr id="6" name="Footer Placeholder 5">
            <a:extLst>
              <a:ext uri="{FF2B5EF4-FFF2-40B4-BE49-F238E27FC236}">
                <a16:creationId xmlns:a16="http://schemas.microsoft.com/office/drawing/2014/main" id="{3AF0CB04-0386-5262-A621-92F43954C52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9932816-0BCE-1F16-0034-770F0F1AB576}"/>
              </a:ext>
            </a:extLst>
          </p:cNvPr>
          <p:cNvSpPr>
            <a:spLocks noGrp="1"/>
          </p:cNvSpPr>
          <p:nvPr>
            <p:ph type="sldNum" sz="quarter" idx="12"/>
          </p:nvPr>
        </p:nvSpPr>
        <p:spPr/>
        <p:txBody>
          <a:bodyPr/>
          <a:lstStyle/>
          <a:p>
            <a:fld id="{E542DB6C-26E9-4CF3-A685-6596365B6E86}" type="slidenum">
              <a:rPr lang="en-US" smtClean="0"/>
              <a:t>‹#›</a:t>
            </a:fld>
            <a:endParaRPr lang="en-US"/>
          </a:p>
        </p:txBody>
      </p:sp>
    </p:spTree>
    <p:extLst>
      <p:ext uri="{BB962C8B-B14F-4D97-AF65-F5344CB8AC3E}">
        <p14:creationId xmlns:p14="http://schemas.microsoft.com/office/powerpoint/2010/main" val="42833207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1E8E3B-1537-8AB6-556A-190502220FC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9C1D032-209B-C10F-1AF0-938EDF3F1DD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134E060-1C7F-12A5-86B4-1B578CCAB1F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1902113-9AC6-7CCF-502D-D3DB5CFD52E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118348B-CE47-BBD6-8F59-220CE1D9F73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9DD3629-C67C-1840-CC4F-A8BBC75E3D75}"/>
              </a:ext>
            </a:extLst>
          </p:cNvPr>
          <p:cNvSpPr>
            <a:spLocks noGrp="1"/>
          </p:cNvSpPr>
          <p:nvPr>
            <p:ph type="dt" sz="half" idx="10"/>
          </p:nvPr>
        </p:nvSpPr>
        <p:spPr/>
        <p:txBody>
          <a:bodyPr/>
          <a:lstStyle/>
          <a:p>
            <a:fld id="{059C1569-9670-4DAE-8EF4-42A690438743}" type="datetimeFigureOut">
              <a:rPr lang="en-US" smtClean="0"/>
              <a:t>2/15/2023</a:t>
            </a:fld>
            <a:endParaRPr lang="en-US"/>
          </a:p>
        </p:txBody>
      </p:sp>
      <p:sp>
        <p:nvSpPr>
          <p:cNvPr id="8" name="Footer Placeholder 7">
            <a:extLst>
              <a:ext uri="{FF2B5EF4-FFF2-40B4-BE49-F238E27FC236}">
                <a16:creationId xmlns:a16="http://schemas.microsoft.com/office/drawing/2014/main" id="{3B013370-E1F6-1234-0A47-A49594EBD62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81FDEC7-05FD-5163-3F5F-8B4260FCDEB2}"/>
              </a:ext>
            </a:extLst>
          </p:cNvPr>
          <p:cNvSpPr>
            <a:spLocks noGrp="1"/>
          </p:cNvSpPr>
          <p:nvPr>
            <p:ph type="sldNum" sz="quarter" idx="12"/>
          </p:nvPr>
        </p:nvSpPr>
        <p:spPr/>
        <p:txBody>
          <a:bodyPr/>
          <a:lstStyle/>
          <a:p>
            <a:fld id="{E542DB6C-26E9-4CF3-A685-6596365B6E86}" type="slidenum">
              <a:rPr lang="en-US" smtClean="0"/>
              <a:t>‹#›</a:t>
            </a:fld>
            <a:endParaRPr lang="en-US"/>
          </a:p>
        </p:txBody>
      </p:sp>
    </p:spTree>
    <p:extLst>
      <p:ext uri="{BB962C8B-B14F-4D97-AF65-F5344CB8AC3E}">
        <p14:creationId xmlns:p14="http://schemas.microsoft.com/office/powerpoint/2010/main" val="27296153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B2C543-BF79-4098-D746-8F0DD715181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C8EE988-1DDA-E02A-2D2C-E5A938D09723}"/>
              </a:ext>
            </a:extLst>
          </p:cNvPr>
          <p:cNvSpPr>
            <a:spLocks noGrp="1"/>
          </p:cNvSpPr>
          <p:nvPr>
            <p:ph type="dt" sz="half" idx="10"/>
          </p:nvPr>
        </p:nvSpPr>
        <p:spPr/>
        <p:txBody>
          <a:bodyPr/>
          <a:lstStyle/>
          <a:p>
            <a:fld id="{059C1569-9670-4DAE-8EF4-42A690438743}" type="datetimeFigureOut">
              <a:rPr lang="en-US" smtClean="0"/>
              <a:t>2/15/2023</a:t>
            </a:fld>
            <a:endParaRPr lang="en-US"/>
          </a:p>
        </p:txBody>
      </p:sp>
      <p:sp>
        <p:nvSpPr>
          <p:cNvPr id="4" name="Footer Placeholder 3">
            <a:extLst>
              <a:ext uri="{FF2B5EF4-FFF2-40B4-BE49-F238E27FC236}">
                <a16:creationId xmlns:a16="http://schemas.microsoft.com/office/drawing/2014/main" id="{5C6D7A5F-7AED-CF77-9C11-AEEF79582BA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B7F2C44-0BC1-6E63-7C2F-E30878DBD38E}"/>
              </a:ext>
            </a:extLst>
          </p:cNvPr>
          <p:cNvSpPr>
            <a:spLocks noGrp="1"/>
          </p:cNvSpPr>
          <p:nvPr>
            <p:ph type="sldNum" sz="quarter" idx="12"/>
          </p:nvPr>
        </p:nvSpPr>
        <p:spPr/>
        <p:txBody>
          <a:bodyPr/>
          <a:lstStyle/>
          <a:p>
            <a:fld id="{E542DB6C-26E9-4CF3-A685-6596365B6E86}" type="slidenum">
              <a:rPr lang="en-US" smtClean="0"/>
              <a:t>‹#›</a:t>
            </a:fld>
            <a:endParaRPr lang="en-US"/>
          </a:p>
        </p:txBody>
      </p:sp>
    </p:spTree>
    <p:extLst>
      <p:ext uri="{BB962C8B-B14F-4D97-AF65-F5344CB8AC3E}">
        <p14:creationId xmlns:p14="http://schemas.microsoft.com/office/powerpoint/2010/main" val="41731710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2013C0F-3132-8E7B-2AB2-C72C3CE156B7}"/>
              </a:ext>
            </a:extLst>
          </p:cNvPr>
          <p:cNvSpPr>
            <a:spLocks noGrp="1"/>
          </p:cNvSpPr>
          <p:nvPr>
            <p:ph type="dt" sz="half" idx="10"/>
          </p:nvPr>
        </p:nvSpPr>
        <p:spPr/>
        <p:txBody>
          <a:bodyPr/>
          <a:lstStyle/>
          <a:p>
            <a:fld id="{059C1569-9670-4DAE-8EF4-42A690438743}" type="datetimeFigureOut">
              <a:rPr lang="en-US" smtClean="0"/>
              <a:t>2/15/2023</a:t>
            </a:fld>
            <a:endParaRPr lang="en-US"/>
          </a:p>
        </p:txBody>
      </p:sp>
      <p:sp>
        <p:nvSpPr>
          <p:cNvPr id="3" name="Footer Placeholder 2">
            <a:extLst>
              <a:ext uri="{FF2B5EF4-FFF2-40B4-BE49-F238E27FC236}">
                <a16:creationId xmlns:a16="http://schemas.microsoft.com/office/drawing/2014/main" id="{F6913FC6-80E3-C29E-2BCF-C59A611ABB6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FCE29C6-436B-69AA-E305-0472A466B6B3}"/>
              </a:ext>
            </a:extLst>
          </p:cNvPr>
          <p:cNvSpPr>
            <a:spLocks noGrp="1"/>
          </p:cNvSpPr>
          <p:nvPr>
            <p:ph type="sldNum" sz="quarter" idx="12"/>
          </p:nvPr>
        </p:nvSpPr>
        <p:spPr/>
        <p:txBody>
          <a:bodyPr/>
          <a:lstStyle/>
          <a:p>
            <a:fld id="{E542DB6C-26E9-4CF3-A685-6596365B6E86}" type="slidenum">
              <a:rPr lang="en-US" smtClean="0"/>
              <a:t>‹#›</a:t>
            </a:fld>
            <a:endParaRPr lang="en-US"/>
          </a:p>
        </p:txBody>
      </p:sp>
    </p:spTree>
    <p:extLst>
      <p:ext uri="{BB962C8B-B14F-4D97-AF65-F5344CB8AC3E}">
        <p14:creationId xmlns:p14="http://schemas.microsoft.com/office/powerpoint/2010/main" val="33770826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1E507B-4853-05E6-32DA-BFC0C2E20EF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5F73851-C104-669F-DE38-517A13233DE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D3A4578-8236-B3BE-44F5-1777B1E8116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D75BB0A-A497-8E43-A0B8-1F1C7E6CDFE2}"/>
              </a:ext>
            </a:extLst>
          </p:cNvPr>
          <p:cNvSpPr>
            <a:spLocks noGrp="1"/>
          </p:cNvSpPr>
          <p:nvPr>
            <p:ph type="dt" sz="half" idx="10"/>
          </p:nvPr>
        </p:nvSpPr>
        <p:spPr/>
        <p:txBody>
          <a:bodyPr/>
          <a:lstStyle/>
          <a:p>
            <a:fld id="{059C1569-9670-4DAE-8EF4-42A690438743}" type="datetimeFigureOut">
              <a:rPr lang="en-US" smtClean="0"/>
              <a:t>2/15/2023</a:t>
            </a:fld>
            <a:endParaRPr lang="en-US"/>
          </a:p>
        </p:txBody>
      </p:sp>
      <p:sp>
        <p:nvSpPr>
          <p:cNvPr id="6" name="Footer Placeholder 5">
            <a:extLst>
              <a:ext uri="{FF2B5EF4-FFF2-40B4-BE49-F238E27FC236}">
                <a16:creationId xmlns:a16="http://schemas.microsoft.com/office/drawing/2014/main" id="{D09D862E-23B1-2BC3-121E-D4AED7F8F6A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802015C-EC42-998B-13A4-04D19A445BE3}"/>
              </a:ext>
            </a:extLst>
          </p:cNvPr>
          <p:cNvSpPr>
            <a:spLocks noGrp="1"/>
          </p:cNvSpPr>
          <p:nvPr>
            <p:ph type="sldNum" sz="quarter" idx="12"/>
          </p:nvPr>
        </p:nvSpPr>
        <p:spPr/>
        <p:txBody>
          <a:bodyPr/>
          <a:lstStyle/>
          <a:p>
            <a:fld id="{E542DB6C-26E9-4CF3-A685-6596365B6E86}" type="slidenum">
              <a:rPr lang="en-US" smtClean="0"/>
              <a:t>‹#›</a:t>
            </a:fld>
            <a:endParaRPr lang="en-US"/>
          </a:p>
        </p:txBody>
      </p:sp>
    </p:spTree>
    <p:extLst>
      <p:ext uri="{BB962C8B-B14F-4D97-AF65-F5344CB8AC3E}">
        <p14:creationId xmlns:p14="http://schemas.microsoft.com/office/powerpoint/2010/main" val="8859204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5F470A-8C56-8E2C-E103-C978C49BDDA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6BF02E1-E83A-98F0-7858-1A08A202A70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D1B7660-71BB-B444-DB14-E14A912CDF8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FE49D40-8B94-1878-24E6-9D058A11B7A9}"/>
              </a:ext>
            </a:extLst>
          </p:cNvPr>
          <p:cNvSpPr>
            <a:spLocks noGrp="1"/>
          </p:cNvSpPr>
          <p:nvPr>
            <p:ph type="dt" sz="half" idx="10"/>
          </p:nvPr>
        </p:nvSpPr>
        <p:spPr/>
        <p:txBody>
          <a:bodyPr/>
          <a:lstStyle/>
          <a:p>
            <a:fld id="{059C1569-9670-4DAE-8EF4-42A690438743}" type="datetimeFigureOut">
              <a:rPr lang="en-US" smtClean="0"/>
              <a:t>2/15/2023</a:t>
            </a:fld>
            <a:endParaRPr lang="en-US"/>
          </a:p>
        </p:txBody>
      </p:sp>
      <p:sp>
        <p:nvSpPr>
          <p:cNvPr id="6" name="Footer Placeholder 5">
            <a:extLst>
              <a:ext uri="{FF2B5EF4-FFF2-40B4-BE49-F238E27FC236}">
                <a16:creationId xmlns:a16="http://schemas.microsoft.com/office/drawing/2014/main" id="{564564E7-3FF9-23D2-ABD0-8A9C45B8CA6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475D002-AEED-D8BC-A68B-503033C468CA}"/>
              </a:ext>
            </a:extLst>
          </p:cNvPr>
          <p:cNvSpPr>
            <a:spLocks noGrp="1"/>
          </p:cNvSpPr>
          <p:nvPr>
            <p:ph type="sldNum" sz="quarter" idx="12"/>
          </p:nvPr>
        </p:nvSpPr>
        <p:spPr/>
        <p:txBody>
          <a:bodyPr/>
          <a:lstStyle/>
          <a:p>
            <a:fld id="{E542DB6C-26E9-4CF3-A685-6596365B6E86}" type="slidenum">
              <a:rPr lang="en-US" smtClean="0"/>
              <a:t>‹#›</a:t>
            </a:fld>
            <a:endParaRPr lang="en-US"/>
          </a:p>
        </p:txBody>
      </p:sp>
    </p:spTree>
    <p:extLst>
      <p:ext uri="{BB962C8B-B14F-4D97-AF65-F5344CB8AC3E}">
        <p14:creationId xmlns:p14="http://schemas.microsoft.com/office/powerpoint/2010/main" val="33765489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1B38E6-1FC8-20AC-CCA6-378FB703693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B8596E2-ABF1-0588-3E84-BAE66AF6E8C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69AF598-FEAE-A8B1-92FE-6654ADAA03DE}"/>
              </a:ext>
            </a:extLst>
          </p:cNvPr>
          <p:cNvSpPr>
            <a:spLocks noGrp="1"/>
          </p:cNvSpPr>
          <p:nvPr>
            <p:ph type="dt" sz="half" idx="10"/>
          </p:nvPr>
        </p:nvSpPr>
        <p:spPr/>
        <p:txBody>
          <a:bodyPr/>
          <a:lstStyle/>
          <a:p>
            <a:fld id="{059C1569-9670-4DAE-8EF4-42A690438743}" type="datetimeFigureOut">
              <a:rPr lang="en-US" smtClean="0"/>
              <a:t>2/15/2023</a:t>
            </a:fld>
            <a:endParaRPr lang="en-US"/>
          </a:p>
        </p:txBody>
      </p:sp>
      <p:sp>
        <p:nvSpPr>
          <p:cNvPr id="5" name="Footer Placeholder 4">
            <a:extLst>
              <a:ext uri="{FF2B5EF4-FFF2-40B4-BE49-F238E27FC236}">
                <a16:creationId xmlns:a16="http://schemas.microsoft.com/office/drawing/2014/main" id="{20954D89-C3CA-6CB3-D36B-EB9AAC89B80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66BB4ED-E50F-9721-1FB2-0A4D2E393683}"/>
              </a:ext>
            </a:extLst>
          </p:cNvPr>
          <p:cNvSpPr>
            <a:spLocks noGrp="1"/>
          </p:cNvSpPr>
          <p:nvPr>
            <p:ph type="sldNum" sz="quarter" idx="12"/>
          </p:nvPr>
        </p:nvSpPr>
        <p:spPr/>
        <p:txBody>
          <a:bodyPr/>
          <a:lstStyle/>
          <a:p>
            <a:fld id="{E542DB6C-26E9-4CF3-A685-6596365B6E86}" type="slidenum">
              <a:rPr lang="en-US" smtClean="0"/>
              <a:t>‹#›</a:t>
            </a:fld>
            <a:endParaRPr lang="en-US"/>
          </a:p>
        </p:txBody>
      </p:sp>
    </p:spTree>
    <p:extLst>
      <p:ext uri="{BB962C8B-B14F-4D97-AF65-F5344CB8AC3E}">
        <p14:creationId xmlns:p14="http://schemas.microsoft.com/office/powerpoint/2010/main" val="27856435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41C90D4-FA78-B0B6-A8D3-C7C1B5F87C1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F2751F1-3012-A493-6E9C-564A7EDD601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C49857A-5F00-7C15-A30F-56DD3950ED0F}"/>
              </a:ext>
            </a:extLst>
          </p:cNvPr>
          <p:cNvSpPr>
            <a:spLocks noGrp="1"/>
          </p:cNvSpPr>
          <p:nvPr>
            <p:ph type="dt" sz="half" idx="10"/>
          </p:nvPr>
        </p:nvSpPr>
        <p:spPr/>
        <p:txBody>
          <a:bodyPr/>
          <a:lstStyle/>
          <a:p>
            <a:fld id="{059C1569-9670-4DAE-8EF4-42A690438743}" type="datetimeFigureOut">
              <a:rPr lang="en-US" smtClean="0"/>
              <a:t>2/15/2023</a:t>
            </a:fld>
            <a:endParaRPr lang="en-US"/>
          </a:p>
        </p:txBody>
      </p:sp>
      <p:sp>
        <p:nvSpPr>
          <p:cNvPr id="5" name="Footer Placeholder 4">
            <a:extLst>
              <a:ext uri="{FF2B5EF4-FFF2-40B4-BE49-F238E27FC236}">
                <a16:creationId xmlns:a16="http://schemas.microsoft.com/office/drawing/2014/main" id="{4C002C7E-E116-D8C0-337C-2888BDB9808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0DB332C-9AE7-7041-4040-A3D9C860B9D4}"/>
              </a:ext>
            </a:extLst>
          </p:cNvPr>
          <p:cNvSpPr>
            <a:spLocks noGrp="1"/>
          </p:cNvSpPr>
          <p:nvPr>
            <p:ph type="sldNum" sz="quarter" idx="12"/>
          </p:nvPr>
        </p:nvSpPr>
        <p:spPr/>
        <p:txBody>
          <a:bodyPr/>
          <a:lstStyle/>
          <a:p>
            <a:fld id="{E542DB6C-26E9-4CF3-A685-6596365B6E86}" type="slidenum">
              <a:rPr lang="en-US" smtClean="0"/>
              <a:t>‹#›</a:t>
            </a:fld>
            <a:endParaRPr lang="en-US"/>
          </a:p>
        </p:txBody>
      </p:sp>
    </p:spTree>
    <p:extLst>
      <p:ext uri="{BB962C8B-B14F-4D97-AF65-F5344CB8AC3E}">
        <p14:creationId xmlns:p14="http://schemas.microsoft.com/office/powerpoint/2010/main" val="32253041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732EE84-695C-FA9B-1FBE-AF6C4D18109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C4AFAD3-221A-8C0A-CA99-560B0ADC618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A3CABD0-D3BA-0FB0-9C6F-271B5563F62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59C1569-9670-4DAE-8EF4-42A690438743}" type="datetimeFigureOut">
              <a:rPr lang="en-US" smtClean="0"/>
              <a:t>2/15/2023</a:t>
            </a:fld>
            <a:endParaRPr lang="en-US"/>
          </a:p>
        </p:txBody>
      </p:sp>
      <p:sp>
        <p:nvSpPr>
          <p:cNvPr id="5" name="Footer Placeholder 4">
            <a:extLst>
              <a:ext uri="{FF2B5EF4-FFF2-40B4-BE49-F238E27FC236}">
                <a16:creationId xmlns:a16="http://schemas.microsoft.com/office/drawing/2014/main" id="{497AAB1C-851B-B83E-052E-28AB2778D1F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44A032C-94F3-1B77-F99F-7062DA4AFF4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542DB6C-26E9-4CF3-A685-6596365B6E86}" type="slidenum">
              <a:rPr lang="en-US" smtClean="0"/>
              <a:t>‹#›</a:t>
            </a:fld>
            <a:endParaRPr lang="en-US"/>
          </a:p>
        </p:txBody>
      </p:sp>
    </p:spTree>
    <p:extLst>
      <p:ext uri="{BB962C8B-B14F-4D97-AF65-F5344CB8AC3E}">
        <p14:creationId xmlns:p14="http://schemas.microsoft.com/office/powerpoint/2010/main" val="47047975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B28C4A-6C2C-22F3-2228-6A2B308456AD}"/>
              </a:ext>
            </a:extLst>
          </p:cNvPr>
          <p:cNvSpPr>
            <a:spLocks noGrp="1"/>
          </p:cNvSpPr>
          <p:nvPr>
            <p:ph type="ctrTitle"/>
          </p:nvPr>
        </p:nvSpPr>
        <p:spPr/>
        <p:txBody>
          <a:bodyPr/>
          <a:lstStyle/>
          <a:p>
            <a:r>
              <a:rPr lang="en-US" dirty="0"/>
              <a:t>SOC002</a:t>
            </a:r>
          </a:p>
        </p:txBody>
      </p:sp>
    </p:spTree>
    <p:extLst>
      <p:ext uri="{BB962C8B-B14F-4D97-AF65-F5344CB8AC3E}">
        <p14:creationId xmlns:p14="http://schemas.microsoft.com/office/powerpoint/2010/main" val="18840095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993FE0-B099-4560-147C-AA06AE8D00FE}"/>
              </a:ext>
            </a:extLst>
          </p:cNvPr>
          <p:cNvSpPr>
            <a:spLocks noGrp="1"/>
          </p:cNvSpPr>
          <p:nvPr>
            <p:ph type="title"/>
          </p:nvPr>
        </p:nvSpPr>
        <p:spPr/>
        <p:txBody>
          <a:bodyPr/>
          <a:lstStyle/>
          <a:p>
            <a:r>
              <a:rPr lang="en-US" dirty="0"/>
              <a:t>How to write a strong thesis statement</a:t>
            </a:r>
          </a:p>
        </p:txBody>
      </p:sp>
      <p:sp>
        <p:nvSpPr>
          <p:cNvPr id="3" name="Content Placeholder 2">
            <a:extLst>
              <a:ext uri="{FF2B5EF4-FFF2-40B4-BE49-F238E27FC236}">
                <a16:creationId xmlns:a16="http://schemas.microsoft.com/office/drawing/2014/main" id="{F4BA3484-B839-B349-986E-57305D412872}"/>
              </a:ext>
            </a:extLst>
          </p:cNvPr>
          <p:cNvSpPr>
            <a:spLocks noGrp="1"/>
          </p:cNvSpPr>
          <p:nvPr>
            <p:ph idx="1"/>
          </p:nvPr>
        </p:nvSpPr>
        <p:spPr/>
        <p:txBody>
          <a:bodyPr/>
          <a:lstStyle/>
          <a:p>
            <a:r>
              <a:rPr lang="en-US" dirty="0"/>
              <a:t>Your first step is to determine what kind of paper you are writing.</a:t>
            </a:r>
          </a:p>
          <a:p>
            <a:r>
              <a:rPr lang="en-US" dirty="0"/>
              <a:t>Three kinds of papers: analytical, expository, and argumentative</a:t>
            </a:r>
          </a:p>
          <a:p>
            <a:r>
              <a:rPr lang="en-US" dirty="0"/>
              <a:t>An analytical paper breaks down an issue or an idea into its component parts, evaluates the idea, and presents the breakdown and evaluation to the audience.</a:t>
            </a:r>
          </a:p>
          <a:p>
            <a:r>
              <a:rPr lang="en-US" dirty="0"/>
              <a:t>An expository paper will explain something to the audience.</a:t>
            </a:r>
          </a:p>
          <a:p>
            <a:r>
              <a:rPr lang="en-US" dirty="0"/>
              <a:t>An argumentative paper makes a claim about a topic and justifies this claim with specific evidence.</a:t>
            </a:r>
          </a:p>
        </p:txBody>
      </p:sp>
    </p:spTree>
    <p:extLst>
      <p:ext uri="{BB962C8B-B14F-4D97-AF65-F5344CB8AC3E}">
        <p14:creationId xmlns:p14="http://schemas.microsoft.com/office/powerpoint/2010/main" val="16710391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9B644F-C4A0-FEF5-45B7-EAEE1CFE2588}"/>
              </a:ext>
            </a:extLst>
          </p:cNvPr>
          <p:cNvSpPr>
            <a:spLocks noGrp="1"/>
          </p:cNvSpPr>
          <p:nvPr>
            <p:ph type="title"/>
          </p:nvPr>
        </p:nvSpPr>
        <p:spPr/>
        <p:txBody>
          <a:bodyPr/>
          <a:lstStyle/>
          <a:p>
            <a:r>
              <a:rPr lang="en-US" dirty="0"/>
              <a:t>Guidelines:</a:t>
            </a:r>
          </a:p>
        </p:txBody>
      </p:sp>
      <p:sp>
        <p:nvSpPr>
          <p:cNvPr id="3" name="Content Placeholder 2">
            <a:extLst>
              <a:ext uri="{FF2B5EF4-FFF2-40B4-BE49-F238E27FC236}">
                <a16:creationId xmlns:a16="http://schemas.microsoft.com/office/drawing/2014/main" id="{50DE56D7-738C-7566-86F4-0069588D064F}"/>
              </a:ext>
            </a:extLst>
          </p:cNvPr>
          <p:cNvSpPr>
            <a:spLocks noGrp="1"/>
          </p:cNvSpPr>
          <p:nvPr>
            <p:ph idx="1"/>
          </p:nvPr>
        </p:nvSpPr>
        <p:spPr/>
        <p:txBody>
          <a:bodyPr/>
          <a:lstStyle/>
          <a:p>
            <a:r>
              <a:rPr lang="en-US" dirty="0"/>
              <a:t>Your thesis statement should be specific and it should cover only what you will discuss in the paper and it should be supported with specific evidence.</a:t>
            </a:r>
          </a:p>
          <a:p>
            <a:r>
              <a:rPr lang="en-US" dirty="0"/>
              <a:t>The thesis statement will appear at the end of the first paragraph of a paper.</a:t>
            </a:r>
          </a:p>
          <a:p>
            <a:r>
              <a:rPr lang="en-US" dirty="0"/>
              <a:t>Your topic can change as you write, and therefore, you need to revise your thesis statement to reflect what is discussed in the paper.</a:t>
            </a:r>
          </a:p>
          <a:p>
            <a:endParaRPr lang="en-US" dirty="0"/>
          </a:p>
        </p:txBody>
      </p:sp>
    </p:spTree>
    <p:extLst>
      <p:ext uri="{BB962C8B-B14F-4D97-AF65-F5344CB8AC3E}">
        <p14:creationId xmlns:p14="http://schemas.microsoft.com/office/powerpoint/2010/main" val="26187926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91E9A-1FF2-782A-CCC9-ACB50FF83D29}"/>
              </a:ext>
            </a:extLst>
          </p:cNvPr>
          <p:cNvSpPr>
            <a:spLocks noGrp="1"/>
          </p:cNvSpPr>
          <p:nvPr>
            <p:ph type="title"/>
          </p:nvPr>
        </p:nvSpPr>
        <p:spPr/>
        <p:txBody>
          <a:bodyPr/>
          <a:lstStyle/>
          <a:p>
            <a:r>
              <a:rPr lang="en-US" dirty="0"/>
              <a:t>Examples of thesis statements</a:t>
            </a:r>
          </a:p>
        </p:txBody>
      </p:sp>
      <p:sp>
        <p:nvSpPr>
          <p:cNvPr id="3" name="Content Placeholder 2">
            <a:extLst>
              <a:ext uri="{FF2B5EF4-FFF2-40B4-BE49-F238E27FC236}">
                <a16:creationId xmlns:a16="http://schemas.microsoft.com/office/drawing/2014/main" id="{6A6D16A9-1FD5-24CA-6746-36EC968E5505}"/>
              </a:ext>
            </a:extLst>
          </p:cNvPr>
          <p:cNvSpPr>
            <a:spLocks noGrp="1"/>
          </p:cNvSpPr>
          <p:nvPr>
            <p:ph idx="1"/>
          </p:nvPr>
        </p:nvSpPr>
        <p:spPr/>
        <p:txBody>
          <a:bodyPr/>
          <a:lstStyle/>
          <a:p>
            <a:r>
              <a:rPr lang="en-US" dirty="0"/>
              <a:t>For an analytical paper, the thesis statement can be:</a:t>
            </a:r>
          </a:p>
          <a:p>
            <a:r>
              <a:rPr lang="en-US" b="0" i="0" dirty="0">
                <a:solidFill>
                  <a:srgbClr val="000000"/>
                </a:solidFill>
                <a:effectLst/>
                <a:latin typeface="source-serif-pro"/>
              </a:rPr>
              <a:t>An analysis of the college admission process reveals one challenge facing counselors: accepting students with high test scores or students with strong extracurricular backgrounds.</a:t>
            </a:r>
          </a:p>
          <a:p>
            <a:r>
              <a:rPr lang="en-US" dirty="0">
                <a:solidFill>
                  <a:srgbClr val="000000"/>
                </a:solidFill>
                <a:latin typeface="source-serif-pro"/>
              </a:rPr>
              <a:t>Your paper should then discuss the following topics:</a:t>
            </a:r>
          </a:p>
          <a:p>
            <a:r>
              <a:rPr lang="en-US" b="0" i="0" dirty="0">
                <a:solidFill>
                  <a:srgbClr val="000000"/>
                </a:solidFill>
                <a:effectLst/>
                <a:latin typeface="acumin-pro"/>
              </a:rPr>
              <a:t>Explain the analysis of the college admission process.</a:t>
            </a:r>
          </a:p>
          <a:p>
            <a:r>
              <a:rPr lang="en-US" b="0" i="0" dirty="0">
                <a:solidFill>
                  <a:srgbClr val="000000"/>
                </a:solidFill>
                <a:effectLst/>
                <a:latin typeface="acumin-pro"/>
              </a:rPr>
              <a:t>Explain the challenge facing admissions counselors.</a:t>
            </a:r>
            <a:endParaRPr lang="en-US" b="0" i="0" dirty="0">
              <a:solidFill>
                <a:srgbClr val="000000"/>
              </a:solidFill>
              <a:effectLst/>
              <a:latin typeface="source-serif-pro"/>
            </a:endParaRPr>
          </a:p>
          <a:p>
            <a:pPr marL="0" indent="0">
              <a:buNone/>
            </a:pPr>
            <a:endParaRPr lang="en-US" dirty="0"/>
          </a:p>
        </p:txBody>
      </p:sp>
    </p:spTree>
    <p:extLst>
      <p:ext uri="{BB962C8B-B14F-4D97-AF65-F5344CB8AC3E}">
        <p14:creationId xmlns:p14="http://schemas.microsoft.com/office/powerpoint/2010/main" val="15055998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B380EFF-5A7E-BF29-777C-9C90E4D901AA}"/>
              </a:ext>
            </a:extLst>
          </p:cNvPr>
          <p:cNvSpPr>
            <a:spLocks noGrp="1"/>
          </p:cNvSpPr>
          <p:nvPr>
            <p:ph idx="1"/>
          </p:nvPr>
        </p:nvSpPr>
        <p:spPr/>
        <p:txBody>
          <a:bodyPr/>
          <a:lstStyle/>
          <a:p>
            <a:r>
              <a:rPr lang="en-US" dirty="0"/>
              <a:t>For an expository paper, the thesis statement can be:</a:t>
            </a:r>
          </a:p>
          <a:p>
            <a:r>
              <a:rPr lang="en-US" dirty="0"/>
              <a:t>The life of a typical college student is characterized by time spent studying, attending class, and socializing with peers.</a:t>
            </a:r>
          </a:p>
          <a:p>
            <a:r>
              <a:rPr lang="en-US" dirty="0"/>
              <a:t>The paper should then explain how students spend their time studying, attending class, and socializing with peers</a:t>
            </a:r>
            <a:r>
              <a:rPr lang="en-US"/>
              <a:t>.</a:t>
            </a:r>
            <a:r>
              <a:rPr lang="en-US" b="0" i="0">
                <a:solidFill>
                  <a:srgbClr val="000000"/>
                </a:solidFill>
                <a:effectLst/>
                <a:latin typeface="acumin-pro"/>
              </a:rPr>
              <a:t> </a:t>
            </a:r>
            <a:endParaRPr lang="en-US" b="0" i="0" dirty="0">
              <a:solidFill>
                <a:srgbClr val="000000"/>
              </a:solidFill>
              <a:effectLst/>
              <a:latin typeface="acumin-pro"/>
            </a:endParaRPr>
          </a:p>
        </p:txBody>
      </p:sp>
    </p:spTree>
    <p:extLst>
      <p:ext uri="{BB962C8B-B14F-4D97-AF65-F5344CB8AC3E}">
        <p14:creationId xmlns:p14="http://schemas.microsoft.com/office/powerpoint/2010/main" val="9885885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B380EFF-5A7E-BF29-777C-9C90E4D901AA}"/>
              </a:ext>
            </a:extLst>
          </p:cNvPr>
          <p:cNvSpPr>
            <a:spLocks noGrp="1"/>
          </p:cNvSpPr>
          <p:nvPr>
            <p:ph idx="1"/>
          </p:nvPr>
        </p:nvSpPr>
        <p:spPr/>
        <p:txBody>
          <a:bodyPr/>
          <a:lstStyle/>
          <a:p>
            <a:r>
              <a:rPr lang="en-US" dirty="0"/>
              <a:t>For an argumentative paper, the thesis statement can be:</a:t>
            </a:r>
          </a:p>
          <a:p>
            <a:r>
              <a:rPr lang="en-US" dirty="0">
                <a:solidFill>
                  <a:srgbClr val="000000"/>
                </a:solidFill>
                <a:latin typeface="acumin-pro"/>
              </a:rPr>
              <a:t>High school students should be allowed to take a year off to pursue community service projects before entering college in order to increase their maturity and global awareness.</a:t>
            </a:r>
          </a:p>
          <a:p>
            <a:r>
              <a:rPr lang="en-US" b="0" i="0" dirty="0">
                <a:solidFill>
                  <a:srgbClr val="000000"/>
                </a:solidFill>
                <a:effectLst/>
                <a:latin typeface="acumin-pro"/>
              </a:rPr>
              <a:t>Now the paper should present an argument and give evidence to support the claim that students should pursue community projects before entering college.</a:t>
            </a:r>
          </a:p>
        </p:txBody>
      </p:sp>
    </p:spTree>
    <p:extLst>
      <p:ext uri="{BB962C8B-B14F-4D97-AF65-F5344CB8AC3E}">
        <p14:creationId xmlns:p14="http://schemas.microsoft.com/office/powerpoint/2010/main" val="10172088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187BD2-9080-5797-E588-AC7A93729B5E}"/>
              </a:ext>
            </a:extLst>
          </p:cNvPr>
          <p:cNvSpPr>
            <a:spLocks noGrp="1"/>
          </p:cNvSpPr>
          <p:nvPr>
            <p:ph type="title"/>
          </p:nvPr>
        </p:nvSpPr>
        <p:spPr/>
        <p:txBody>
          <a:bodyPr/>
          <a:lstStyle/>
          <a:p>
            <a:r>
              <a:rPr lang="en-US" dirty="0"/>
              <a:t>Structure of an essay (Introduction, Body, Conclusion)</a:t>
            </a:r>
          </a:p>
        </p:txBody>
      </p:sp>
      <p:sp>
        <p:nvSpPr>
          <p:cNvPr id="3" name="Content Placeholder 2">
            <a:extLst>
              <a:ext uri="{FF2B5EF4-FFF2-40B4-BE49-F238E27FC236}">
                <a16:creationId xmlns:a16="http://schemas.microsoft.com/office/drawing/2014/main" id="{9B4746D4-F419-E7F0-A0B9-3A177C928222}"/>
              </a:ext>
            </a:extLst>
          </p:cNvPr>
          <p:cNvSpPr>
            <a:spLocks noGrp="1"/>
          </p:cNvSpPr>
          <p:nvPr>
            <p:ph idx="1"/>
          </p:nvPr>
        </p:nvSpPr>
        <p:spPr/>
        <p:txBody>
          <a:bodyPr/>
          <a:lstStyle/>
          <a:p>
            <a:r>
              <a:rPr lang="en-US" dirty="0"/>
              <a:t>Introduction paragraph:</a:t>
            </a:r>
          </a:p>
          <a:p>
            <a:r>
              <a:rPr lang="en-US" dirty="0"/>
              <a:t>To craft a strong introduction begin with a hook</a:t>
            </a:r>
          </a:p>
          <a:p>
            <a:r>
              <a:rPr lang="en-US" dirty="0"/>
              <a:t>A hook can be something compelling such as a question, a powerful quote, or an interesting fact.</a:t>
            </a:r>
          </a:p>
          <a:p>
            <a:r>
              <a:rPr lang="en-US" dirty="0"/>
              <a:t>Then specify the background points that assist the reader in understanding the topic.</a:t>
            </a:r>
          </a:p>
          <a:p>
            <a:r>
              <a:rPr lang="en-US" dirty="0"/>
              <a:t>Finally include a thesis statement.</a:t>
            </a:r>
          </a:p>
        </p:txBody>
      </p:sp>
    </p:spTree>
    <p:extLst>
      <p:ext uri="{BB962C8B-B14F-4D97-AF65-F5344CB8AC3E}">
        <p14:creationId xmlns:p14="http://schemas.microsoft.com/office/powerpoint/2010/main" val="16650558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7D12FE-91A4-65A3-354B-6DAB94034375}"/>
              </a:ext>
            </a:extLst>
          </p:cNvPr>
          <p:cNvSpPr>
            <a:spLocks noGrp="1"/>
          </p:cNvSpPr>
          <p:nvPr>
            <p:ph type="title"/>
          </p:nvPr>
        </p:nvSpPr>
        <p:spPr/>
        <p:txBody>
          <a:bodyPr/>
          <a:lstStyle/>
          <a:p>
            <a:r>
              <a:rPr lang="en-US" dirty="0"/>
              <a:t>Introduction</a:t>
            </a:r>
          </a:p>
        </p:txBody>
      </p:sp>
      <p:sp>
        <p:nvSpPr>
          <p:cNvPr id="3" name="Content Placeholder 2">
            <a:extLst>
              <a:ext uri="{FF2B5EF4-FFF2-40B4-BE49-F238E27FC236}">
                <a16:creationId xmlns:a16="http://schemas.microsoft.com/office/drawing/2014/main" id="{5DFD9830-CC5A-5AB4-5C5B-9285A5F89D94}"/>
              </a:ext>
            </a:extLst>
          </p:cNvPr>
          <p:cNvSpPr>
            <a:spLocks noGrp="1"/>
          </p:cNvSpPr>
          <p:nvPr>
            <p:ph idx="1"/>
          </p:nvPr>
        </p:nvSpPr>
        <p:spPr/>
        <p:txBody>
          <a:bodyPr/>
          <a:lstStyle/>
          <a:p>
            <a:pPr marL="0" indent="0">
              <a:buNone/>
            </a:pPr>
            <a:endParaRPr lang="en-US" dirty="0"/>
          </a:p>
          <a:p>
            <a:r>
              <a:rPr lang="en-US" dirty="0"/>
              <a:t>A) Hook</a:t>
            </a:r>
          </a:p>
          <a:p>
            <a:r>
              <a:rPr lang="en-US" dirty="0"/>
              <a:t>B) 2 Background points</a:t>
            </a:r>
          </a:p>
          <a:p>
            <a:r>
              <a:rPr lang="en-US" dirty="0"/>
              <a:t>C) Thesis statement</a:t>
            </a:r>
          </a:p>
        </p:txBody>
      </p:sp>
    </p:spTree>
    <p:extLst>
      <p:ext uri="{BB962C8B-B14F-4D97-AF65-F5344CB8AC3E}">
        <p14:creationId xmlns:p14="http://schemas.microsoft.com/office/powerpoint/2010/main" val="22705992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C520D8-88B0-613D-522C-9668F5C6B4C1}"/>
              </a:ext>
            </a:extLst>
          </p:cNvPr>
          <p:cNvSpPr>
            <a:spLocks noGrp="1"/>
          </p:cNvSpPr>
          <p:nvPr>
            <p:ph type="title"/>
          </p:nvPr>
        </p:nvSpPr>
        <p:spPr/>
        <p:txBody>
          <a:bodyPr/>
          <a:lstStyle/>
          <a:p>
            <a:r>
              <a:rPr lang="en-US" dirty="0"/>
              <a:t>Body</a:t>
            </a:r>
          </a:p>
        </p:txBody>
      </p:sp>
      <p:sp>
        <p:nvSpPr>
          <p:cNvPr id="3" name="Content Placeholder 2">
            <a:extLst>
              <a:ext uri="{FF2B5EF4-FFF2-40B4-BE49-F238E27FC236}">
                <a16:creationId xmlns:a16="http://schemas.microsoft.com/office/drawing/2014/main" id="{8A72CF31-D2A8-2012-D097-01BC2BFE5E75}"/>
              </a:ext>
            </a:extLst>
          </p:cNvPr>
          <p:cNvSpPr>
            <a:spLocks noGrp="1"/>
          </p:cNvSpPr>
          <p:nvPr>
            <p:ph idx="1"/>
          </p:nvPr>
        </p:nvSpPr>
        <p:spPr/>
        <p:txBody>
          <a:bodyPr/>
          <a:lstStyle/>
          <a:p>
            <a:r>
              <a:rPr lang="en-US" dirty="0"/>
              <a:t>A) Topic sentence with supporting fact 1 and supporting fact 2</a:t>
            </a:r>
          </a:p>
          <a:p>
            <a:r>
              <a:rPr lang="en-US" dirty="0"/>
              <a:t>B) Transition sentence</a:t>
            </a:r>
          </a:p>
          <a:p>
            <a:r>
              <a:rPr lang="en-US" dirty="0"/>
              <a:t>Your body paragraph needs to underscore the thesis statement, specify a topic sentence that conveys this and support it with 2 facts.</a:t>
            </a:r>
          </a:p>
          <a:p>
            <a:r>
              <a:rPr lang="en-US" dirty="0"/>
              <a:t>End with a strong transition sentence that moves the reader to the conclusion.</a:t>
            </a:r>
          </a:p>
        </p:txBody>
      </p:sp>
    </p:spTree>
    <p:extLst>
      <p:ext uri="{BB962C8B-B14F-4D97-AF65-F5344CB8AC3E}">
        <p14:creationId xmlns:p14="http://schemas.microsoft.com/office/powerpoint/2010/main" val="26013613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B25200-7ED3-B4CC-ED39-7F9E3FCCA019}"/>
              </a:ext>
            </a:extLst>
          </p:cNvPr>
          <p:cNvSpPr>
            <a:spLocks noGrp="1"/>
          </p:cNvSpPr>
          <p:nvPr>
            <p:ph type="title"/>
          </p:nvPr>
        </p:nvSpPr>
        <p:spPr/>
        <p:txBody>
          <a:bodyPr/>
          <a:lstStyle/>
          <a:p>
            <a:r>
              <a:rPr lang="en-US" dirty="0"/>
              <a:t>Conclusion</a:t>
            </a:r>
          </a:p>
        </p:txBody>
      </p:sp>
      <p:sp>
        <p:nvSpPr>
          <p:cNvPr id="3" name="Content Placeholder 2">
            <a:extLst>
              <a:ext uri="{FF2B5EF4-FFF2-40B4-BE49-F238E27FC236}">
                <a16:creationId xmlns:a16="http://schemas.microsoft.com/office/drawing/2014/main" id="{29D1A521-CF77-2777-83D6-86992735D3D6}"/>
              </a:ext>
            </a:extLst>
          </p:cNvPr>
          <p:cNvSpPr>
            <a:spLocks noGrp="1"/>
          </p:cNvSpPr>
          <p:nvPr>
            <p:ph idx="1"/>
          </p:nvPr>
        </p:nvSpPr>
        <p:spPr/>
        <p:txBody>
          <a:bodyPr/>
          <a:lstStyle/>
          <a:p>
            <a:r>
              <a:rPr lang="en-US" dirty="0"/>
              <a:t>Re-statement of Thesis</a:t>
            </a:r>
          </a:p>
          <a:p>
            <a:r>
              <a:rPr lang="en-US" dirty="0"/>
              <a:t>Summary of the main points</a:t>
            </a:r>
          </a:p>
          <a:p>
            <a:r>
              <a:rPr lang="en-US" dirty="0"/>
              <a:t>Challenging the reader with some future scope</a:t>
            </a:r>
          </a:p>
        </p:txBody>
      </p:sp>
    </p:spTree>
    <p:extLst>
      <p:ext uri="{BB962C8B-B14F-4D97-AF65-F5344CB8AC3E}">
        <p14:creationId xmlns:p14="http://schemas.microsoft.com/office/powerpoint/2010/main" val="6910370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757865-4B6F-7FEF-C95B-1D46C825A916}"/>
              </a:ext>
            </a:extLst>
          </p:cNvPr>
          <p:cNvSpPr>
            <a:spLocks noGrp="1"/>
          </p:cNvSpPr>
          <p:nvPr>
            <p:ph type="title"/>
          </p:nvPr>
        </p:nvSpPr>
        <p:spPr/>
        <p:txBody>
          <a:bodyPr/>
          <a:lstStyle/>
          <a:p>
            <a:r>
              <a:rPr lang="en-US" dirty="0"/>
              <a:t>Citations</a:t>
            </a:r>
          </a:p>
        </p:txBody>
      </p:sp>
      <p:sp>
        <p:nvSpPr>
          <p:cNvPr id="3" name="Content Placeholder 2">
            <a:extLst>
              <a:ext uri="{FF2B5EF4-FFF2-40B4-BE49-F238E27FC236}">
                <a16:creationId xmlns:a16="http://schemas.microsoft.com/office/drawing/2014/main" id="{ABF55807-C761-F5E1-6036-F26FFF6FA411}"/>
              </a:ext>
            </a:extLst>
          </p:cNvPr>
          <p:cNvSpPr>
            <a:spLocks noGrp="1"/>
          </p:cNvSpPr>
          <p:nvPr>
            <p:ph idx="1"/>
          </p:nvPr>
        </p:nvSpPr>
        <p:spPr/>
        <p:txBody>
          <a:bodyPr>
            <a:normAutofit lnSpcReduction="10000"/>
          </a:bodyPr>
          <a:lstStyle/>
          <a:p>
            <a:r>
              <a:rPr lang="en-US" dirty="0"/>
              <a:t>Support statements and provide evidence via citations.</a:t>
            </a:r>
          </a:p>
          <a:p>
            <a:r>
              <a:rPr lang="en-US" dirty="0"/>
              <a:t>One common citation format is the APA format:</a:t>
            </a:r>
          </a:p>
          <a:p>
            <a:r>
              <a:rPr lang="en-US" dirty="0"/>
              <a:t>It follows the author-date method of in-text citation, which means that the author’s last name and year of publication for the source should appear in the text, example: (Jones, 1998)</a:t>
            </a:r>
          </a:p>
          <a:p>
            <a:r>
              <a:rPr lang="en-US" dirty="0"/>
              <a:t>One complete reference for each source should appear in the reference list at the end of the paper.</a:t>
            </a:r>
          </a:p>
          <a:p>
            <a:r>
              <a:rPr lang="en-US" dirty="0"/>
              <a:t>Note: If you are referring an idea from another work but not exactly quoting the material, then make reference to the author and the year of publication and not the page number in your in-text reference.</a:t>
            </a:r>
          </a:p>
        </p:txBody>
      </p:sp>
    </p:spTree>
    <p:extLst>
      <p:ext uri="{BB962C8B-B14F-4D97-AF65-F5344CB8AC3E}">
        <p14:creationId xmlns:p14="http://schemas.microsoft.com/office/powerpoint/2010/main" val="32002540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AE9108F-A17E-85E8-15CA-6D99B1542BB7}"/>
              </a:ext>
            </a:extLst>
          </p:cNvPr>
          <p:cNvSpPr>
            <a:spLocks noGrp="1"/>
          </p:cNvSpPr>
          <p:nvPr>
            <p:ph idx="1"/>
          </p:nvPr>
        </p:nvSpPr>
        <p:spPr/>
        <p:txBody>
          <a:bodyPr/>
          <a:lstStyle/>
          <a:p>
            <a:r>
              <a:rPr lang="en-US" b="0" i="0" dirty="0">
                <a:solidFill>
                  <a:srgbClr val="000000"/>
                </a:solidFill>
                <a:effectLst/>
                <a:latin typeface="source-serif-pro"/>
              </a:rPr>
              <a:t>Jones (1998) found “some quote by jones here" (p. 105)</a:t>
            </a:r>
          </a:p>
          <a:p>
            <a:r>
              <a:rPr lang="en-US" b="0" i="0" dirty="0">
                <a:solidFill>
                  <a:srgbClr val="000000"/>
                </a:solidFill>
                <a:effectLst/>
                <a:latin typeface="acumin-pro"/>
              </a:rPr>
              <a:t>(Jones, 1998, pp. 199–201)</a:t>
            </a:r>
          </a:p>
          <a:p>
            <a:r>
              <a:rPr lang="en-US" dirty="0" err="1">
                <a:solidFill>
                  <a:srgbClr val="2C3E50"/>
                </a:solidFill>
                <a:latin typeface="Calibri" panose="020F0502020204030204" pitchFamily="34" charset="0"/>
              </a:rPr>
              <a:t>LastName</a:t>
            </a:r>
            <a:r>
              <a:rPr lang="en-US" b="0" i="0" dirty="0">
                <a:solidFill>
                  <a:srgbClr val="2C3E50"/>
                </a:solidFill>
                <a:effectLst/>
                <a:latin typeface="Calibri" panose="020F0502020204030204" pitchFamily="34" charset="0"/>
              </a:rPr>
              <a:t>, </a:t>
            </a:r>
            <a:r>
              <a:rPr lang="en-US" dirty="0">
                <a:solidFill>
                  <a:srgbClr val="2C3E50"/>
                </a:solidFill>
                <a:latin typeface="Calibri" panose="020F0502020204030204" pitchFamily="34" charset="0"/>
              </a:rPr>
              <a:t>FirstName character</a:t>
            </a:r>
            <a:r>
              <a:rPr lang="en-US" b="0" i="0" dirty="0">
                <a:solidFill>
                  <a:srgbClr val="2C3E50"/>
                </a:solidFill>
                <a:effectLst/>
                <a:latin typeface="Calibri" panose="020F0502020204030204" pitchFamily="34" charset="0"/>
              </a:rPr>
              <a:t>., &amp; </a:t>
            </a:r>
            <a:r>
              <a:rPr lang="en-US" b="0" i="0" dirty="0" err="1">
                <a:solidFill>
                  <a:srgbClr val="2C3E50"/>
                </a:solidFill>
                <a:effectLst/>
                <a:latin typeface="Calibri" panose="020F0502020204030204" pitchFamily="34" charset="0"/>
              </a:rPr>
              <a:t>LastName</a:t>
            </a:r>
            <a:r>
              <a:rPr lang="en-US" b="0" i="0" dirty="0">
                <a:solidFill>
                  <a:srgbClr val="2C3E50"/>
                </a:solidFill>
                <a:effectLst/>
                <a:latin typeface="Calibri" panose="020F0502020204030204" pitchFamily="34" charset="0"/>
              </a:rPr>
              <a:t>, </a:t>
            </a:r>
            <a:r>
              <a:rPr lang="en-US" dirty="0">
                <a:solidFill>
                  <a:srgbClr val="2C3E50"/>
                </a:solidFill>
                <a:latin typeface="Calibri" panose="020F0502020204030204" pitchFamily="34" charset="0"/>
              </a:rPr>
              <a:t>FirstName character</a:t>
            </a:r>
            <a:r>
              <a:rPr lang="en-US" b="0" i="0" dirty="0">
                <a:solidFill>
                  <a:srgbClr val="2C3E50"/>
                </a:solidFill>
                <a:effectLst/>
                <a:latin typeface="Calibri" panose="020F0502020204030204" pitchFamily="34" charset="0"/>
              </a:rPr>
              <a:t>. (year). Paper title. Paper conference. </a:t>
            </a:r>
            <a:r>
              <a:rPr lang="en-US" b="0" i="0">
                <a:solidFill>
                  <a:srgbClr val="2C3E50"/>
                </a:solidFill>
                <a:effectLst/>
                <a:latin typeface="Calibri" panose="020F0502020204030204" pitchFamily="34" charset="0"/>
              </a:rPr>
              <a:t>DOI URL</a:t>
            </a:r>
            <a:endParaRPr lang="en-US" dirty="0"/>
          </a:p>
        </p:txBody>
      </p:sp>
    </p:spTree>
    <p:extLst>
      <p:ext uri="{BB962C8B-B14F-4D97-AF65-F5344CB8AC3E}">
        <p14:creationId xmlns:p14="http://schemas.microsoft.com/office/powerpoint/2010/main" val="292395302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53</TotalTime>
  <Words>651</Words>
  <Application>Microsoft Office PowerPoint</Application>
  <PresentationFormat>Widescreen</PresentationFormat>
  <Paragraphs>52</Paragraphs>
  <Slides>12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acumin-pro</vt:lpstr>
      <vt:lpstr>Arial</vt:lpstr>
      <vt:lpstr>Calibri</vt:lpstr>
      <vt:lpstr>Calibri Light</vt:lpstr>
      <vt:lpstr>source-serif-pro</vt:lpstr>
      <vt:lpstr>Office Theme</vt:lpstr>
      <vt:lpstr>SOC002</vt:lpstr>
      <vt:lpstr>How to write a strong thesis statement</vt:lpstr>
      <vt:lpstr>Guidelines:</vt:lpstr>
      <vt:lpstr>Examples of thesis statements</vt:lpstr>
      <vt:lpstr>PowerPoint Presentation</vt:lpstr>
      <vt:lpstr>PowerPoint Presentation</vt:lpstr>
      <vt:lpstr>Structure of an essay (Introduction, Body, Conclusion)</vt:lpstr>
      <vt:lpstr>Introduction</vt:lpstr>
      <vt:lpstr>Body</vt:lpstr>
      <vt:lpstr>Conclusion</vt:lpstr>
      <vt:lpstr>Citations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SOC002</dc:title>
  <dc:creator>apratim shukla</dc:creator>
  <cp:lastModifiedBy>apratim shukla</cp:lastModifiedBy>
  <cp:revision>8</cp:revision>
  <dcterms:created xsi:type="dcterms:W3CDTF">2023-02-16T00:19:44Z</dcterms:created>
  <dcterms:modified xsi:type="dcterms:W3CDTF">2023-02-16T02:24:23Z</dcterms:modified>
</cp:coreProperties>
</file>